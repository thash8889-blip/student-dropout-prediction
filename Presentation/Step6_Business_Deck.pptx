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45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5029200" cy="5029200"/>
          </a:xfrm>
          <a:prstGeom prst="ellipse">
            <a:avLst/>
          </a:prstGeom>
          <a:solidFill>
            <a:srgbClr val="50808E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4206240"/>
            <a:ext cx="3108960" cy="3108960"/>
          </a:xfrm>
          <a:prstGeom prst="ellipse">
            <a:avLst/>
          </a:prstGeom>
          <a:solidFill>
            <a:srgbClr val="69A29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9659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BRIEFING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377440"/>
            <a:ext cx="8686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Helping Students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Stay Enrolled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343400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FE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early-warning model that flags students at risk of dropping out — so support teams can reach them sooner.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5349240"/>
            <a:ext cx="2194560" cy="0"/>
          </a:xfrm>
          <a:prstGeom prst="line">
            <a:avLst/>
          </a:prstGeom>
          <a:noFill/>
          <a:ln w="31750">
            <a:solidFill>
              <a:srgbClr val="84B59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5486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DB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Retention Analytics · Project Summary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the time we notice, it's often too late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5577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6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a third of students in our reference data ultimately drop out. Today, warning signs are usually visible only after a student has already fallen behind — leaving a narrow window to help.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200400"/>
            <a:ext cx="5577840" cy="2651760"/>
          </a:xfrm>
          <a:prstGeom prst="roundRect">
            <a:avLst>
              <a:gd name="adj" fmla="val 2759"/>
            </a:avLst>
          </a:prstGeom>
          <a:solidFill>
            <a:srgbClr val="F5F8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340156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080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3867912"/>
            <a:ext cx="109728" cy="109728"/>
          </a:xfrm>
          <a:prstGeom prst="ellipse">
            <a:avLst/>
          </a:prstGeom>
          <a:solidFill>
            <a:srgbClr val="69A29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51560" y="3721608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dropout represents a student who left before completing their programme, with potential academic and institutional consequences.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2960" y="4626864"/>
            <a:ext cx="109728" cy="109728"/>
          </a:xfrm>
          <a:prstGeom prst="ellipse">
            <a:avLst/>
          </a:prstGeom>
          <a:solidFill>
            <a:srgbClr val="69A29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51560" y="4480560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Advising and financial-aid teams have limited capacity; they need to know who to prioritize.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22960" y="5385816"/>
            <a:ext cx="109728" cy="109728"/>
          </a:xfrm>
          <a:prstGeom prst="ellipse">
            <a:avLst/>
          </a:prstGeom>
          <a:solidFill>
            <a:srgbClr val="69A29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51560" y="5239512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dropout also protects the institution’s revenue and standing, though this project focuses on the students themselves.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92240" y="1645920"/>
            <a:ext cx="5166360" cy="4206240"/>
          </a:xfrm>
          <a:prstGeom prst="roundRect">
            <a:avLst>
              <a:gd name="adj" fmla="val 2174"/>
            </a:avLst>
          </a:prstGeom>
          <a:solidFill>
            <a:srgbClr val="50808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92240" y="2377440"/>
            <a:ext cx="5166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32.1%</a:t>
            </a:r>
            <a:endParaRPr lang="en-US" sz="6400" dirty="0"/>
          </a:p>
        </p:txBody>
      </p:sp>
      <p:sp>
        <p:nvSpPr>
          <p:cNvPr id="15" name="Text 13"/>
          <p:cNvSpPr txBox="1"/>
          <p:nvPr/>
        </p:nvSpPr>
        <p:spPr>
          <a:xfrm>
            <a:off x="6766560" y="356616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4F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students in our data ultimately dropped out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8138160" y="4343400"/>
            <a:ext cx="1874520" cy="0"/>
          </a:xfrm>
          <a:prstGeom prst="line">
            <a:avLst/>
          </a:prstGeom>
          <a:noFill/>
          <a:ln w="19050">
            <a:solidFill>
              <a:srgbClr val="84B59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766560" y="4526280"/>
            <a:ext cx="4617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FE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49.9% graduate · 17.9% remain enrolled · 32.1% drop out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Identification of At-Risk Students — Executive Briefing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 existing student data into an early warning system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26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used information the institution already collects — demographics, financial status, admissions details, and family background — gathered early in a student’s studies, before later academic performance data was available.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2606040" cy="2834640"/>
          </a:xfrm>
          <a:prstGeom prst="roundRect">
            <a:avLst>
              <a:gd name="adj" fmla="val 2807"/>
            </a:avLst>
          </a:prstGeom>
          <a:solidFill>
            <a:srgbClr val="F5F8F6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999232"/>
            <a:ext cx="502920" cy="502920"/>
          </a:xfrm>
          <a:prstGeom prst="ellipse">
            <a:avLst/>
          </a:prstGeom>
          <a:solidFill>
            <a:srgbClr val="50808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9992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65760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6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 from history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4251960"/>
            <a:ext cx="2148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4,424 past students, with known outcomes, were used to train the model.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163824" y="393192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9A2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383280" y="2743200"/>
            <a:ext cx="2606040" cy="2834640"/>
          </a:xfrm>
          <a:prstGeom prst="roundRect">
            <a:avLst>
              <a:gd name="adj" fmla="val 2807"/>
            </a:avLst>
          </a:prstGeom>
          <a:solidFill>
            <a:srgbClr val="F5F8F6"/>
          </a:solidFill>
          <a:ln/>
        </p:spPr>
      </p:sp>
      <p:sp>
        <p:nvSpPr>
          <p:cNvPr id="12" name="Shape 10"/>
          <p:cNvSpPr/>
          <p:nvPr/>
        </p:nvSpPr>
        <p:spPr>
          <a:xfrm>
            <a:off x="3611880" y="2999232"/>
            <a:ext cx="502920" cy="502920"/>
          </a:xfrm>
          <a:prstGeom prst="ellipse">
            <a:avLst/>
          </a:prstGeom>
          <a:solidFill>
            <a:srgbClr val="50808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611880" y="29992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3611880" y="365760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6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a predictive model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611880" y="4251960"/>
            <a:ext cx="2148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industry-standard machine learning model (Random Forest) learned the patterns behind dropout.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998464" y="393192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9A2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217920" y="2743200"/>
            <a:ext cx="2606040" cy="2834640"/>
          </a:xfrm>
          <a:prstGeom prst="roundRect">
            <a:avLst>
              <a:gd name="adj" fmla="val 2807"/>
            </a:avLst>
          </a:prstGeom>
          <a:solidFill>
            <a:srgbClr val="69A297"/>
          </a:solidFill>
          <a:ln/>
        </p:spPr>
      </p:sp>
      <p:sp>
        <p:nvSpPr>
          <p:cNvPr id="18" name="Shape 16"/>
          <p:cNvSpPr/>
          <p:nvPr/>
        </p:nvSpPr>
        <p:spPr>
          <a:xfrm>
            <a:off x="6446520" y="2999232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46520" y="29992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9A2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6446520" y="365760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Flag at-risk students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446520" y="4251960"/>
            <a:ext cx="2148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4F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scores each student’s dropout risk early — before performance data alone would reveal it.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8833104" y="393192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9A2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9052560" y="2743200"/>
            <a:ext cx="2606040" cy="2834640"/>
          </a:xfrm>
          <a:prstGeom prst="roundRect">
            <a:avLst>
              <a:gd name="adj" fmla="val 2807"/>
            </a:avLst>
          </a:prstGeom>
          <a:solidFill>
            <a:srgbClr val="F5F8F6"/>
          </a:solidFill>
          <a:ln/>
        </p:spPr>
      </p:sp>
      <p:sp>
        <p:nvSpPr>
          <p:cNvPr id="24" name="Shape 22"/>
          <p:cNvSpPr/>
          <p:nvPr/>
        </p:nvSpPr>
        <p:spPr>
          <a:xfrm>
            <a:off x="9281160" y="2999232"/>
            <a:ext cx="502920" cy="502920"/>
          </a:xfrm>
          <a:prstGeom prst="ellipse">
            <a:avLst/>
          </a:prstGeom>
          <a:solidFill>
            <a:srgbClr val="50808E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281160" y="29992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9281160" y="365760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6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 teams act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9281160" y="4251960"/>
            <a:ext cx="2148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students can be prioritized for outreach, advising, or financial support.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58064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was tested only on students it had not seen during training, to confirm the patterns hold up on new students.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Identification of At-Risk Students — Executive Briefing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WELL IT WORKS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Catches 7 in 10 students who go on to drop out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20440" cy="2834640"/>
          </a:xfrm>
          <a:prstGeom prst="roundRect">
            <a:avLst>
              <a:gd name="adj" fmla="val 2903"/>
            </a:avLst>
          </a:prstGeom>
          <a:solidFill>
            <a:srgbClr val="F5F8F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10312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5080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69.7%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9718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Dropout Recall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47472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6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actual dropouts the model successfully flags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43400" y="1737360"/>
            <a:ext cx="3520440" cy="2834640"/>
          </a:xfrm>
          <a:prstGeom prst="roundRect">
            <a:avLst>
              <a:gd name="adj" fmla="val 2903"/>
            </a:avLst>
          </a:prstGeom>
          <a:solidFill>
            <a:srgbClr val="F5F8F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617720" y="210312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5080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198 / 284</a:t>
            </a:r>
            <a:endParaRPr lang="en-US" sz="3800" dirty="0"/>
          </a:p>
        </p:txBody>
      </p:sp>
      <p:sp>
        <p:nvSpPr>
          <p:cNvPr id="10" name="Text 8"/>
          <p:cNvSpPr txBox="1"/>
          <p:nvPr/>
        </p:nvSpPr>
        <p:spPr>
          <a:xfrm>
            <a:off x="4617720" y="29718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Students Flagged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617720" y="347472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6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At-risk students correctly identified in our test group of 885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38160" y="1737360"/>
            <a:ext cx="3520440" cy="2834640"/>
          </a:xfrm>
          <a:prstGeom prst="roundRect">
            <a:avLst>
              <a:gd name="adj" fmla="val 2903"/>
            </a:avLst>
          </a:prstGeom>
          <a:solidFill>
            <a:srgbClr val="50808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412480" y="210312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69.72%</a:t>
            </a:r>
            <a:endParaRPr lang="en-US" sz="3800" dirty="0"/>
          </a:p>
        </p:txBody>
      </p:sp>
      <p:sp>
        <p:nvSpPr>
          <p:cNvPr id="14" name="Text 12"/>
          <p:cNvSpPr txBox="1"/>
          <p:nvPr/>
        </p:nvSpPr>
        <p:spPr>
          <a:xfrm>
            <a:off x="8412480" y="29718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Intervention Coverage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412480" y="347472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4F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Proportion of at-risk students positioned for early outreach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892040"/>
            <a:ext cx="11064240" cy="1325880"/>
          </a:xfrm>
          <a:prstGeom prst="roundRect">
            <a:avLst>
              <a:gd name="adj" fmla="val 5517"/>
            </a:avLst>
          </a:prstGeom>
          <a:solidFill>
            <a:srgbClr val="F5F8F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8680" y="50566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B85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FRAMING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5321808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6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model identifies risk — it does not, by itself, guarantee a reduction in dropout. We do not yet have data on how students respond to intervention, so results are framed as supporting outreach decisions, not as a promised outcome.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Identification of At-Risk Students — Executive Briefing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DRIVES RISK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standing and age stand out most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749808"/>
          </a:xfrm>
          <a:prstGeom prst="roundRect">
            <a:avLst>
              <a:gd name="adj" fmla="val 7317"/>
            </a:avLst>
          </a:prstGeom>
          <a:solidFill>
            <a:srgbClr val="F5F8F6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865376"/>
            <a:ext cx="402336" cy="402336"/>
          </a:xfrm>
          <a:prstGeom prst="ellipse">
            <a:avLst/>
          </a:prstGeom>
          <a:solidFill>
            <a:srgbClr val="50808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18653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78308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 at enrollment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4617720" y="1783080"/>
            <a:ext cx="6766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6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Older students at enrollment show higher predicted risk.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551176"/>
            <a:ext cx="1106424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749808" y="2724912"/>
            <a:ext cx="402336" cy="402336"/>
          </a:xfrm>
          <a:prstGeom prst="ellipse">
            <a:avLst/>
          </a:prstGeom>
          <a:solidFill>
            <a:srgbClr val="50808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27249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2642616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Tuition payment status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2642616"/>
            <a:ext cx="6766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6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being current on tuition is one of the clearest warning signs.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410712"/>
            <a:ext cx="11064240" cy="749808"/>
          </a:xfrm>
          <a:prstGeom prst="roundRect">
            <a:avLst>
              <a:gd name="adj" fmla="val 7317"/>
            </a:avLst>
          </a:prstGeom>
          <a:solidFill>
            <a:srgbClr val="F5F8F6"/>
          </a:solidFill>
          <a:ln/>
        </p:spPr>
      </p:sp>
      <p:sp>
        <p:nvSpPr>
          <p:cNvPr id="15" name="Shape 13"/>
          <p:cNvSpPr/>
          <p:nvPr/>
        </p:nvSpPr>
        <p:spPr>
          <a:xfrm>
            <a:off x="749808" y="3584448"/>
            <a:ext cx="402336" cy="402336"/>
          </a:xfrm>
          <a:prstGeom prst="ellipse">
            <a:avLst/>
          </a:prstGeom>
          <a:solidFill>
            <a:srgbClr val="50808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49808" y="35844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3502152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risk profile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4617720" y="3502152"/>
            <a:ext cx="6766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6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combined signal for tuition and debt status adds meaningful early insight.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270248"/>
            <a:ext cx="1106424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749808" y="4443984"/>
            <a:ext cx="402336" cy="402336"/>
          </a:xfrm>
          <a:prstGeom prst="ellipse">
            <a:avLst/>
          </a:prstGeom>
          <a:solidFill>
            <a:srgbClr val="50808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49808" y="44439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371600" y="4361688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Scholarship status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4617720" y="4361688"/>
            <a:ext cx="6766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6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without a scholarship show somewhat higher risk on average.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5129784"/>
            <a:ext cx="11064240" cy="749808"/>
          </a:xfrm>
          <a:prstGeom prst="roundRect">
            <a:avLst>
              <a:gd name="adj" fmla="val 7317"/>
            </a:avLst>
          </a:prstGeom>
          <a:solidFill>
            <a:srgbClr val="F5F8F6"/>
          </a:solidFill>
          <a:ln/>
        </p:spPr>
      </p:sp>
      <p:sp>
        <p:nvSpPr>
          <p:cNvPr id="25" name="Shape 23"/>
          <p:cNvSpPr/>
          <p:nvPr/>
        </p:nvSpPr>
        <p:spPr>
          <a:xfrm>
            <a:off x="749808" y="5303520"/>
            <a:ext cx="402336" cy="402336"/>
          </a:xfrm>
          <a:prstGeom prst="ellipse">
            <a:avLst/>
          </a:prstGeom>
          <a:solidFill>
            <a:srgbClr val="50808E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49808" y="53035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1371600" y="5221224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Gender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4617720" y="5221224"/>
            <a:ext cx="6766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6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measurable factor, and one we specifically checked for fair treatment (next slide).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60807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patterns the model learned from historical data — not proof that any one factor causes dropout.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Identification of At-Risk Students — Executive Briefing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checked the model for fair treatment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26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considering deployment, we tested whether the model treats different groups of students differently — specifically by gender and age.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5394960" cy="3246120"/>
          </a:xfrm>
          <a:prstGeom prst="roundRect">
            <a:avLst>
              <a:gd name="adj" fmla="val 2535"/>
            </a:avLst>
          </a:prstGeom>
          <a:solidFill>
            <a:srgbClr val="F5F8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6060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FOUND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907792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6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flags male students and older students (30+) at noticeably higher rates than female or younger students.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68680" y="3794760"/>
            <a:ext cx="4754880" cy="0"/>
          </a:xfrm>
          <a:prstGeom prst="line">
            <a:avLst/>
          </a:prstGeom>
          <a:noFill/>
          <a:ln w="12700">
            <a:solidFill>
              <a:srgbClr val="DDE3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8680" y="395020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THIS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4251960"/>
            <a:ext cx="4846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6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groups also have genuinely higher dropout rates in our data. The gap reflects a real underlying pattern the model picked up — it is a disparity to monitor, not proof that the model is unfairly biased.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2423160"/>
            <a:ext cx="5394960" cy="3246120"/>
          </a:xfrm>
          <a:prstGeom prst="roundRect">
            <a:avLst>
              <a:gd name="adj" fmla="val 2535"/>
            </a:avLst>
          </a:prstGeom>
          <a:solidFill>
            <a:srgbClr val="50808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37960" y="260604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spc="80" kern="0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WATCH-LIST ITEM FOR THE 30+ GROUP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31546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94.3%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6537960" y="37947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4F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at-risk 30+ students correctly caught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9052560" y="31546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66.7%</a:t>
            </a:r>
            <a:endParaRPr lang="en-US" sz="3400" dirty="0"/>
          </a:p>
        </p:txBody>
      </p:sp>
      <p:sp>
        <p:nvSpPr>
          <p:cNvPr id="16" name="Text 14"/>
          <p:cNvSpPr txBox="1"/>
          <p:nvPr/>
        </p:nvSpPr>
        <p:spPr>
          <a:xfrm>
            <a:off x="9052560" y="37947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4F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false-alarm rate for that same group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537960" y="4526280"/>
            <a:ext cx="4754880" cy="0"/>
          </a:xfrm>
          <a:prstGeom prst="line">
            <a:avLst/>
          </a:prstGeom>
          <a:noFill/>
          <a:ln w="19050">
            <a:solidFill>
              <a:srgbClr val="69A29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37960" y="470916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4F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Older students are caught very reliably, but at the cost of more unnecessary outreach to students who wouldn’t have dropped out — worth factoring into how outreach capacity is planned.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kind of fairness check is designed to run on a regular schedule if the model moves into production — not just once, before launch.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Identification of At-Risk Students — Executive Briefing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&amp; LIMITATIONS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Manageable risks, with a plan for each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F5F8F6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47672"/>
            <a:ext cx="146304" cy="146304"/>
          </a:xfrm>
          <a:prstGeom prst="ellipse">
            <a:avLst/>
          </a:prstGeom>
          <a:solidFill>
            <a:srgbClr val="B8562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15568" y="1874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Imbalanced outcomes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258568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6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~32% of students in our data actually dropped out, which can make any model over- or under-confident.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01752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3E8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 Ongoing calibration and threshold review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169164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F5F8F6"/>
          </a:solidFill>
          <a:ln/>
        </p:spPr>
      </p:sp>
      <p:sp>
        <p:nvSpPr>
          <p:cNvPr id="10" name="Shape 8"/>
          <p:cNvSpPr/>
          <p:nvPr/>
        </p:nvSpPr>
        <p:spPr>
          <a:xfrm>
            <a:off x="6492240" y="1947672"/>
            <a:ext cx="146304" cy="146304"/>
          </a:xfrm>
          <a:prstGeom prst="ellipse">
            <a:avLst/>
          </a:prstGeom>
          <a:solidFill>
            <a:srgbClr val="B8562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784848" y="1874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may not generalize perfectly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2258568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6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on new, unseen students may differ slightly from our test results.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301752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3E8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 Regular re-testing and monitoring after deployment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84048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F5F8F6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4096512"/>
            <a:ext cx="146304" cy="146304"/>
          </a:xfrm>
          <a:prstGeom prst="ellipse">
            <a:avLst/>
          </a:prstGeom>
          <a:solidFill>
            <a:srgbClr val="B8562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115568" y="4023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availability at decision time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4407408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6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feature must genuinely be available before an intervention decision is made.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16636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3E8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 Documented review of what data is available and when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384048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F5F8F6"/>
          </a:solidFill>
          <a:ln/>
        </p:spPr>
      </p:sp>
      <p:sp>
        <p:nvSpPr>
          <p:cNvPr id="20" name="Shape 18"/>
          <p:cNvSpPr/>
          <p:nvPr/>
        </p:nvSpPr>
        <p:spPr>
          <a:xfrm>
            <a:off x="6492240" y="4096512"/>
            <a:ext cx="146304" cy="146304"/>
          </a:xfrm>
          <a:prstGeom prst="ellipse">
            <a:avLst/>
          </a:prstGeom>
          <a:solidFill>
            <a:srgbClr val="B8562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784848" y="4023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Fairness monitoring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492240" y="4407408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6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 differ by gender and age, as shown on the previous slide.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492240" y="516636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3E8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 Scheduled subgroup reviews; adjust thresholds if needed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Identification of At-Risk Students — Executive Briefing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NEXT STEPS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analysis to a supervised pilot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06040" cy="3200400"/>
          </a:xfrm>
          <a:prstGeom prst="roundRect">
            <a:avLst>
              <a:gd name="adj" fmla="val 3158"/>
            </a:avLst>
          </a:prstGeom>
          <a:solidFill>
            <a:srgbClr val="69A29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14884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97180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a small pilot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657600"/>
            <a:ext cx="2057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4F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flagged students with one advising team and track how outreach is used.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83280" y="1828800"/>
            <a:ext cx="2606040" cy="3200400"/>
          </a:xfrm>
          <a:prstGeom prst="roundRect">
            <a:avLst>
              <a:gd name="adj" fmla="val 3158"/>
            </a:avLst>
          </a:prstGeom>
          <a:solidFill>
            <a:srgbClr val="F5F8F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657600" y="214884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5080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3657600" y="297180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6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 fairness quarterly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657600" y="3657600"/>
            <a:ext cx="2057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6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Re-check outcomes by gender and age as new student data arrives.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1828800"/>
            <a:ext cx="2606040" cy="3200400"/>
          </a:xfrm>
          <a:prstGeom prst="roundRect">
            <a:avLst>
              <a:gd name="adj" fmla="val 3158"/>
            </a:avLst>
          </a:prstGeom>
          <a:solidFill>
            <a:srgbClr val="F5F8F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92240" y="214884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5080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297180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6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the threshold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3657600"/>
            <a:ext cx="2057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6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outreach capacity against how many at-risk students to flag.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052560" y="1828800"/>
            <a:ext cx="2606040" cy="3200400"/>
          </a:xfrm>
          <a:prstGeom prst="roundRect">
            <a:avLst>
              <a:gd name="adj" fmla="val 3158"/>
            </a:avLst>
          </a:prstGeom>
          <a:solidFill>
            <a:srgbClr val="F5F8F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326880" y="214884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5080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400" dirty="0"/>
          </a:p>
        </p:txBody>
      </p:sp>
      <p:sp>
        <p:nvSpPr>
          <p:cNvPr id="18" name="Text 16"/>
          <p:cNvSpPr txBox="1"/>
          <p:nvPr/>
        </p:nvSpPr>
        <p:spPr>
          <a:xfrm>
            <a:off x="9326880" y="297180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6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Retrain periodically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9326880" y="3657600"/>
            <a:ext cx="2057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6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the model as new cohorts complete their studies.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3492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these steps require a large upfront investment — the model and supporting analysis are already built and reproducible.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Identification of At-Risk Students — Executive Briefing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F45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029200" cy="5029200"/>
          </a:xfrm>
          <a:prstGeom prst="ellipse">
            <a:avLst/>
          </a:prstGeom>
          <a:solidFill>
            <a:srgbClr val="50808E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572000"/>
            <a:ext cx="2926080" cy="2926080"/>
          </a:xfrm>
          <a:prstGeom prst="ellipse">
            <a:avLst/>
          </a:prstGeom>
          <a:solidFill>
            <a:srgbClr val="69A29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SUMMARY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83080"/>
            <a:ext cx="9144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model that helps us reach</a:t>
            </a:r>
            <a:endParaRPr lang="en-US" sz="3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students sooner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42900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CFE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correctly flags 7 in 10 students who go on to drop out, was tested for fair treatment across groups, and comes with a clear, low-cost path to a supervised pilot.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40080" y="4617720"/>
            <a:ext cx="3931920" cy="1005840"/>
          </a:xfrm>
          <a:prstGeom prst="roundRect">
            <a:avLst>
              <a:gd name="adj" fmla="val 7273"/>
            </a:avLst>
          </a:prstGeom>
          <a:solidFill>
            <a:srgbClr val="50808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475488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Ready for a pilot with one advising team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Identification of At-Risk Students — Executive Briefing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2026-09-21T09:01:33Z</dcterms:created>
  <dcterms:modified xsi:type="dcterms:W3CDTF">2026-09-21T09:01:33Z</dcterms:modified>
</cp:coreProperties>
</file>