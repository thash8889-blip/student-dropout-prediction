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students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6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Graduate</c:v>
                  </c:pt>
                  <c:pt idx="1">
                    <c:v>Dropout</c:v>
                  </c:pt>
                  <c:pt idx="2">
                    <c:v>Enrolled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49.9</c:v>
                </c:pt>
                <c:pt idx="1">
                  <c:v>32.1</c:v>
                </c:pt>
                <c:pt idx="2">
                  <c:v>17.9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Recall</c:v>
                </c:pt>
              </c:strCache>
            </c:strRef>
          </c:tx>
          <c:spPr>
            <a:solidFill>
              <a:srgbClr val="2C7A5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7A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XGBoost</c:v>
                  </c:pt>
                  <c:pt idx="4">
                    <c:v>Logistic Reg.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0.697</c:v>
                </c:pt>
                <c:pt idx="1">
                  <c:v>0.669</c:v>
                </c:pt>
                <c:pt idx="2">
                  <c:v>0.514</c:v>
                </c:pt>
                <c:pt idx="3">
                  <c:v>0.5</c:v>
                </c:pt>
                <c:pt idx="4">
                  <c:v>0.486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5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09728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63440" y="1417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 CAPSTONE  ·  TECHNICAL DECK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87452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Student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Risk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8862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on the UCI “Predict Students’ Dropout and Academic Success” dataset — problem framing through model explainability and fairness auditing.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507492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Realinho et al., 2021 · UCI ML Repository · DOI 10.24432/C5MC89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PROBLEM UNDERSTANDING &amp; 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retention problem, framed as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need to identify at-risk students early enough to provide targeted academic, financial, and counselling support — improving retention and allowing limited support resources to be allocated more effectively. Protecting revenue and rankings is a secondary consequence, not something this project measures directly.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3308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demographic, admission, socioeconomic, and academic information available in the early stages of study, predict whether a student will ultimately drop out. Which variables truly qualify as “early-stage” is resolved explicitly in Step 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(Dropout) vs 0 (Not Dropout, combining Enrolled and Graduate). Supervised, not clustering — every student already has a known, labeled outcome.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CAUSAL CLAIM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2245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intervention outcome data available, so the project cannot claim that flagging students will reduce dropout. Results are framed as supporting targeted intervention, not as a guaranteed reduction in dropout rate.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SUCCESS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“good”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92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discrimination ability across all thresholds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992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Recall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7947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 at-risk student costs more than a false alarm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947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for the Dropout class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1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9992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Coverage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7947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actual dropouts flagged for support at a chosen threshold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COLLECTION &amp; UNDERSTANDING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4,424 students, 36 features, one clean source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4,424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Realinho et al. (2021), UCI ML Repository — DOI 10.24432/C5MC89, CC BY 4.0. Portuguese higher-education institution, 17 undergraduate courses. Combines demographics, socioeconomic data, application details, 1st/2nd-semester performance, and regional macroeconomic indicators.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categorical + 18 numerical features, plus the 3-class Target.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338328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2–3 · DATA QUALITY &amp; LEAKAGE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kept, leakage removed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SCAN (18 NUMERICAL FEATURES)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2nd-semester grade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2039112"/>
            <a:ext cx="2286000" cy="201168"/>
          </a:xfrm>
          <a:prstGeom prst="rect">
            <a:avLst/>
          </a:prstGeom>
          <a:solidFill>
            <a:srgbClr val="E7EEF1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039112"/>
            <a:ext cx="2265426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19.82%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1st-semester grade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496312"/>
            <a:ext cx="2286000" cy="201168"/>
          </a:xfrm>
          <a:prstGeom prst="rect">
            <a:avLst/>
          </a:prstGeom>
          <a:solidFill>
            <a:srgbClr val="E7EEF1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496312"/>
            <a:ext cx="1875663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2423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16.41%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1st-sem. credited units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2953512"/>
            <a:ext cx="2286000" cy="201168"/>
          </a:xfrm>
          <a:prstGeom prst="rect">
            <a:avLst/>
          </a:prstGeom>
          <a:solidFill>
            <a:srgbClr val="E7EE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953512"/>
            <a:ext cx="1490472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2880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13.04%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2nd-sem. credited units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3410712"/>
            <a:ext cx="2286000" cy="201168"/>
          </a:xfrm>
          <a:prstGeom prst="rect">
            <a:avLst/>
          </a:prstGeom>
          <a:solidFill>
            <a:srgbClr val="E7EEF1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3410712"/>
            <a:ext cx="1369314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11.98%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enrollment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867912"/>
            <a:ext cx="2286000" cy="201168"/>
          </a:xfrm>
          <a:prstGeom prst="rect">
            <a:avLst/>
          </a:prstGeom>
          <a:solidFill>
            <a:srgbClr val="E7EEF1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867912"/>
            <a:ext cx="1139571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0" y="3794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9.97%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891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indicators (unemployment, inflation, GDP) had 0 flagged outliers. Several flagged variables are zero-inflated, which causes IQR to flag legitimate values — so nothing was removed automatically.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16459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DECISION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curricular-unit features excluded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971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1st/2nd-semester credited, enrolled, evaluations, approved, grade, and without-evaluations counts describe academic activity that happens after enrollment.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12280" y="4069080"/>
            <a:ext cx="4206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251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objective is early identification, these were removed to avoid temporal leakage — leaving 24 early-stage predictors from the original data.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domain-derived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Age_Group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8013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 (1,952) · 20–24 (1,334) · 25–29 (427) · 30+ (711)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2549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Parental_Qualification_Same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825496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parents share a qualification category: 1,956 yes / 2,468 no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4962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Parental_Occupation_Same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84962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parents share an occupation category: 1,752 yes / 2,672 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6402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737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Financial_Risk_Flag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87375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Debtor OR tuition not up to date: 785 flagged / 3,639 not — combines two individually strong predictors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795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feature set after engineering: 28 features (19 categorical, 9 numerical).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PREPROCESSING, SELECTION &amp; DIMENSIONALITY REDUCTION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28 features to a lean, informative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 columns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median-imputed + standardized. Categorical: most-frequent-imputed + one-hot encoded.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78224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4F7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via Mutual Information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 retained the top 20% of 245 features. Tuition-fee status ranked among the strongest, alongside Financial_Risk_Flag, Age at enrollment, and Previous qualification grade.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72984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148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9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components (90% variance)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57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9 standardized numerical features. 3 are binary engineered flags with limited shared variance, so most components are needed to reach 90%.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PCA projection shows substantial overlap between dropout and non-dropout students — no clean linear separability in just two dimensions.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MODEL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evaluated on the same 885-student test set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2194560"/>
                <a:gridCol w="1645920"/>
                <a:gridCol w="1645920"/>
                <a:gridCol w="1280160"/>
              </a:tblGrid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4983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doesn’t top ROC-AUC, but it wins on the metric that matters most for this problem: it correctly identifies the highest share of students who actually drop out (Recall 69.7%), while keeping F1 highest and ROC-AUC competitive.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TUNING &amp; FINAL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Forest, and why the untuned version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RECALL BY MODEL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6459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1488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(20 combos × 5-fold CV) tuned n_estimators, max_depth, min_samples_leaf, and max_features. Best CV config scored F1 0.623, but only F1 0.644 on the held-out test set — marginally below the untuned baseline’s F1 0.648.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RANDOM FOREST (BASELINE)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45720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generalized better on unseen data than the tuned version — a strong CV score didn’t translate to better held-out performance, so it was retained.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KPI: 69.72% intervention coverage — 198 of 284 actual dropout students in the test set correctly flagged.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MODEL 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SHAP: what the model is actually reacting to</a:t>
            </a:r>
            <a:endParaRPr lang="en-US" sz="3200" dirty="0"/>
          </a:p>
        </p:txBody>
      </p:sp>
      <p:pic>
        <p:nvPicPr>
          <p:cNvPr id="4" name="Image 0" descr="/home/claude/report_assets/shap_summary_plot_ste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52160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DROPOUT-CLASS PREDICTORS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75120" y="2011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enrollment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7512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459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up to date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75120" y="29626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935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Financial_Risk_Flag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75120" y="343814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7512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3410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holder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675120" y="391363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675120" y="452628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49440" y="475488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age at enrollment, tuition fees not being up to date, and not holding a scholarship were associated with higher predicted dropout risk. These are patterns the model learned — not evidence of causal relationships.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BIAS &amp; FAIRNESS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disparities, read alongside real base rates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960120"/>
        </p:xfrm>
        <a:graphic>
          <a:graphicData uri="http://schemas.openxmlformats.org/drawingml/2006/table">
            <a:tbl>
              <a:tblPr/>
              <a:tblGrid>
                <a:gridCol w="1834286"/>
                <a:gridCol w="890168"/>
                <a:gridCol w="890168"/>
                <a:gridCol w="890168"/>
                <a:gridCol w="89016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Gender_1 (N=321)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Gender_0 (N=564)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15468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Diff.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46960" y="315468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346960" y="361188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145280" y="315468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145280" y="361188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Opportunity Diff.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343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groups have substantially different underlying dropout rates (45.5% vs 24.5%), so this shows outcome disparity — not proof of discriminatory bias.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394960" cy="1371600"/>
        </p:xfrm>
        <a:graphic>
          <a:graphicData uri="http://schemas.openxmlformats.org/drawingml/2006/table">
            <a:tbl>
              <a:tblPr/>
              <a:tblGrid>
                <a:gridCol w="1834286"/>
                <a:gridCol w="890168"/>
                <a:gridCol w="890168"/>
                <a:gridCol w="890168"/>
                <a:gridCol w="89016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20 (N=412)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/ ref (N=323)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(N=150)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263640" y="35661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−.30 / +.38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02336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Demog. Parity Diff. (vs ref)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061960" y="35661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.32 / 1.85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061960" y="402336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(vs ref)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9860280" y="356616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−.36 / +.20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9860280" y="4023360"/>
            <a:ext cx="170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Opp. Diff. (vs ref)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263640" y="461772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6520" y="4754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dropout rates also range widely by age (20.4% to 58.0%), which should be read alongside these gaps.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Disparate-impact ratios fall outside the commonly referenced 0.8–1.25 range for both attributes — a useful warning signal, not a standalone determination of unfairness.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LIMITATIONS &amp; MITIGATIONS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model needs care before deployment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70332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4297680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mitigation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32.1% of the test set are actual dropouts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weighting, resampling, or threshold 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disparities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differ by gender and age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monitoring, group-aware thresholds, reweighting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must exist before an intervention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validation, feature-availability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 (0.623) differed from held-out test F1 (0.648)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Cross-validation, hold-out testing, ongoing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and age contribute to predictions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performance/fairness with and without these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9253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models, preprocessing artifacts, and selected feature lists are saved (models/, artifacts/) so every metric in this deck can be reproduced end to end.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Prediction — Technical Deck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2026-09-21T08:42:32Z</dcterms:created>
  <dcterms:modified xsi:type="dcterms:W3CDTF">2026-09-21T08:42:32Z</dcterms:modified>
</cp:coreProperties>
</file>